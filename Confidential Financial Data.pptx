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6124-A68B-5896-C835-88887DCE5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8E316-FA10-1A53-F207-CD7D70923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D2DBD-422F-6336-618A-A1C1195CB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D14FD-2BC7-369D-82D7-FBBDABFD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883C1-D320-6360-6E57-F8D1C95E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6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8394-988C-363B-F680-CAB6650E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87AB2-F657-0C55-DD1F-56126DD2C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959F1-1DA2-97C3-75DD-83BB4E10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078A0-53C4-5AD8-B5D9-6D2ACCF4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7EFCB-7FAA-2878-524F-B0A0BD37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2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4563-C9FC-548F-748E-B6689FC4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8AD4D-8DE1-1CA3-C33A-6776EDD9A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3D5F3-1576-2D2D-4390-54F45358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A6C86-D65E-CE6C-28A9-2A6841AE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7CFF5-6616-AA82-7559-E050CC60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0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02FC-49F4-FDA3-30DB-3E645335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50D5C-CADD-533F-D7B8-5950230BF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A879D-41E1-CFAD-F657-5C5A3C6AE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FE082-E2B9-CD33-31F7-294E0219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44C89-D1BA-66F8-76DF-EB705CCD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C957B-630B-4E74-4066-83A2A856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5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DDB6-219E-3FF7-8DA2-A7F302D2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488A8-4061-CDD0-C51A-3D0E1634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CC5A9-32F7-5C0F-7308-8CC7320DF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2BC23-F1F2-0D6E-5FB2-256B71F4A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45603-5EF9-346B-A1DE-916AA87FF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AC9EE6-B19F-DEFC-4AC6-5201247E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E12407-8262-205B-DD11-2A383393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D027EA-EC6F-109B-338E-DCA95C395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1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A846-E75F-1294-2B5C-DBADA885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CFFC1-01ED-384A-4CA7-A9EBB45F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178A5-1641-43A3-21AB-D48BDDB1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D2AE2-5B8F-A0A5-DF62-7EF786FA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4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DF926-F066-A2B1-D189-2B6AAFA3C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9DB7D-E43E-EB78-C6B6-10F58439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1D3AF-009D-E425-7F65-FF5E8D26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7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61D38-C4A2-C6DE-2012-766888DA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90465-AA3A-E7D6-D70D-4D3E1B636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68575-DCA6-D2EF-2352-377F26EDA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D33C8-EEA3-49AF-2659-23425CBD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BA21D-345C-04AF-330A-963216C1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E6CE6-68EC-095A-50B7-6C1BB8AD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2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BB6C-1DB2-32EC-E135-4352A117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AFBED8-3948-316B-5D39-1D015ABEC5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757B9-D752-0115-DD2C-98E346C76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06028-0B02-897A-0BE5-8DCEFE9C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83CBF-C9C9-15A5-B923-A074D3ED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6AC8D-796D-0A6A-0DF2-0803BEFA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9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DC13-75B6-0B6C-D0A8-0655EADE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5C583-DB00-8448-7B48-C69B00FD0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7FE75-BDBE-3C1A-96AF-6648107D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BBA5B-3A0E-3476-D01D-65FCF449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8F0FA-E43F-20D5-6405-34956997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1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B9F7F-01F5-5FC4-C506-F9A49A9D4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B1119-3344-E71E-7F11-68D940AF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D25C0-56CD-E85C-C24D-50BFB312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3C263-B945-1298-0736-B1710446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FB115-E3B2-ADD4-B060-C02410C1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6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90ED6-3D65-9140-29B4-32260A64F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B60CC-09B5-848E-841F-EC47C4A74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01203-D3D6-1E81-13EA-E78DF63F3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A64FA-8470-488A-92E2-B3920057A5B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DB65D-A7DA-C738-CDDD-9F938FBA6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40389-44B4-283D-B19C-D1FD9B6BA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C49EB-AD40-4A2E-A3EA-0DC4A98D2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2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405E-83D9-D532-FFCD-FE58C7259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Financial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A3D58-3403-AA23-0A10-77E1AE7CA0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92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7BED-F6F1-5B56-94AE-4A992C9E3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0A32F-8F96-6507-8517-1F3850DD6F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1. Transaction ID: 6ed75fa1-e6bd-4c0e-9df6-322355b84fbf</a:t>
            </a:r>
          </a:p>
          <a:p>
            <a:pPr>
              <a:lnSpc>
                <a:spcPct val="120000"/>
              </a:lnSpc>
            </a:pPr>
            <a:r>
              <a:rPr lang="en-US" dirty="0"/>
              <a:t>Transaction Date: 08/27/2025</a:t>
            </a:r>
          </a:p>
          <a:p>
            <a:pPr>
              <a:lnSpc>
                <a:spcPct val="120000"/>
              </a:lnSpc>
            </a:pPr>
            <a:r>
              <a:rPr lang="en-US" dirty="0"/>
              <a:t>Value Date: 08/29/2025</a:t>
            </a:r>
          </a:p>
          <a:p>
            <a:pPr>
              <a:lnSpc>
                <a:spcPct val="120000"/>
              </a:lnSpc>
            </a:pPr>
            <a:r>
              <a:rPr lang="en-US" dirty="0"/>
              <a:t>Posting Date: 09/01/2025</a:t>
            </a:r>
          </a:p>
          <a:p>
            <a:pPr>
              <a:lnSpc>
                <a:spcPct val="120000"/>
              </a:lnSpc>
            </a:pPr>
            <a:r>
              <a:rPr lang="en-US" dirty="0"/>
              <a:t>Vendor: Green-Reid (ID: VND-48235)</a:t>
            </a:r>
          </a:p>
          <a:p>
            <a:pPr>
              <a:lnSpc>
                <a:spcPct val="120000"/>
              </a:lnSpc>
            </a:pPr>
            <a:r>
              <a:rPr lang="en-US" dirty="0"/>
              <a:t>Invoice: INV-511341 | PO: PO-6325</a:t>
            </a:r>
          </a:p>
          <a:p>
            <a:pPr>
              <a:lnSpc>
                <a:spcPct val="120000"/>
              </a:lnSpc>
            </a:pPr>
            <a:r>
              <a:rPr lang="en-US" dirty="0"/>
              <a:t>Amount: 46,407.37 IRR</a:t>
            </a:r>
          </a:p>
          <a:p>
            <a:pPr>
              <a:lnSpc>
                <a:spcPct val="120000"/>
              </a:lnSpc>
            </a:pPr>
            <a:r>
              <a:rPr lang="en-US" dirty="0"/>
              <a:t>Payment Method: ACH</a:t>
            </a:r>
          </a:p>
          <a:p>
            <a:pPr>
              <a:lnSpc>
                <a:spcPct val="120000"/>
              </a:lnSpc>
            </a:pPr>
            <a:r>
              <a:rPr lang="en-US" dirty="0"/>
              <a:t>Bank: Banco Santander (Branch Code: 962)</a:t>
            </a:r>
          </a:p>
          <a:p>
            <a:pPr>
              <a:lnSpc>
                <a:spcPct val="120000"/>
              </a:lnSpc>
            </a:pPr>
            <a:r>
              <a:rPr lang="en-US" dirty="0"/>
              <a:t>Account Number: VCSW86497879029929</a:t>
            </a:r>
          </a:p>
          <a:p>
            <a:pPr>
              <a:lnSpc>
                <a:spcPct val="120000"/>
              </a:lnSpc>
            </a:pPr>
            <a:r>
              <a:rPr lang="en-US" dirty="0"/>
              <a:t>Beneficiary: Olivier </a:t>
            </a:r>
            <a:r>
              <a:rPr lang="en-US" dirty="0" err="1"/>
              <a:t>Regnier</a:t>
            </a:r>
            <a:r>
              <a:rPr lang="en-US" dirty="0"/>
              <a:t>-Dupré</a:t>
            </a:r>
          </a:p>
          <a:p>
            <a:pPr>
              <a:lnSpc>
                <a:spcPct val="120000"/>
              </a:lnSpc>
            </a:pPr>
            <a:r>
              <a:rPr lang="en-US" dirty="0"/>
              <a:t>Risk Score: Low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38881-11E4-4FFE-BC33-75C76C96C6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2. Transaction ID: ec74eadb-dcbd-4d6e-8e36-adf79861b9b0</a:t>
            </a:r>
          </a:p>
          <a:p>
            <a:pPr>
              <a:lnSpc>
                <a:spcPct val="120000"/>
              </a:lnSpc>
            </a:pPr>
            <a:r>
              <a:rPr lang="en-US" dirty="0"/>
              <a:t>Transaction Date: 12/02/2025</a:t>
            </a:r>
          </a:p>
          <a:p>
            <a:pPr>
              <a:lnSpc>
                <a:spcPct val="120000"/>
              </a:lnSpc>
            </a:pPr>
            <a:r>
              <a:rPr lang="en-US" dirty="0"/>
              <a:t>Value Date: 12/03/2025</a:t>
            </a:r>
          </a:p>
          <a:p>
            <a:pPr>
              <a:lnSpc>
                <a:spcPct val="120000"/>
              </a:lnSpc>
            </a:pPr>
            <a:r>
              <a:rPr lang="en-US" dirty="0"/>
              <a:t>Posting Date: 12/04/2025</a:t>
            </a:r>
          </a:p>
          <a:p>
            <a:pPr>
              <a:lnSpc>
                <a:spcPct val="120000"/>
              </a:lnSpc>
            </a:pPr>
            <a:r>
              <a:rPr lang="en-US" dirty="0"/>
              <a:t>Vendor: Hill-Brown (ID: VND-86568)</a:t>
            </a:r>
          </a:p>
          <a:p>
            <a:pPr>
              <a:lnSpc>
                <a:spcPct val="120000"/>
              </a:lnSpc>
            </a:pPr>
            <a:r>
              <a:rPr lang="en-US" dirty="0"/>
              <a:t>Invoice: INV-561314 | PO: PO-8297</a:t>
            </a:r>
          </a:p>
          <a:p>
            <a:pPr>
              <a:lnSpc>
                <a:spcPct val="120000"/>
              </a:lnSpc>
            </a:pPr>
            <a:r>
              <a:rPr lang="en-US" dirty="0"/>
              <a:t>Amount: 19,950.75 MYR</a:t>
            </a:r>
          </a:p>
          <a:p>
            <a:pPr>
              <a:lnSpc>
                <a:spcPct val="120000"/>
              </a:lnSpc>
            </a:pPr>
            <a:r>
              <a:rPr lang="en-US" dirty="0"/>
              <a:t>Payment Method: Wire Transfer</a:t>
            </a:r>
          </a:p>
          <a:p>
            <a:pPr>
              <a:lnSpc>
                <a:spcPct val="120000"/>
              </a:lnSpc>
            </a:pPr>
            <a:r>
              <a:rPr lang="en-US" dirty="0"/>
              <a:t>Bank: Crédit Agricole (Branch Code: 935)</a:t>
            </a:r>
          </a:p>
          <a:p>
            <a:pPr>
              <a:lnSpc>
                <a:spcPct val="120000"/>
              </a:lnSpc>
            </a:pPr>
            <a:r>
              <a:rPr lang="en-US" dirty="0"/>
              <a:t>Account Number: 6.70252E+17</a:t>
            </a:r>
          </a:p>
          <a:p>
            <a:pPr>
              <a:lnSpc>
                <a:spcPct val="120000"/>
              </a:lnSpc>
            </a:pPr>
            <a:r>
              <a:rPr lang="en-US" dirty="0"/>
              <a:t>Beneficiary: Cord </a:t>
            </a:r>
            <a:r>
              <a:rPr lang="en-US" dirty="0" err="1"/>
              <a:t>Dörr</a:t>
            </a:r>
            <a:r>
              <a:rPr lang="en-US" dirty="0"/>
              <a:t>-Putz</a:t>
            </a:r>
          </a:p>
          <a:p>
            <a:pPr>
              <a:lnSpc>
                <a:spcPct val="120000"/>
              </a:lnSpc>
            </a:pPr>
            <a:r>
              <a:rPr lang="en-US" dirty="0"/>
              <a:t>Risk Score: High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9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E0EC-B039-2030-AAF5-381F5AAF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508CA-655D-886C-0C85-233B2A74C2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3. Transaction ID: a95ac916-4014-4396-bd8f-d3fc98ecbdd2</a:t>
            </a:r>
          </a:p>
          <a:p>
            <a:endParaRPr lang="en-US" dirty="0"/>
          </a:p>
          <a:p>
            <a:r>
              <a:rPr lang="en-US" dirty="0"/>
              <a:t>Transaction Date: 05/01/2025</a:t>
            </a:r>
          </a:p>
          <a:p>
            <a:r>
              <a:rPr lang="en-US" dirty="0"/>
              <a:t>Value Date: 05/01/2025</a:t>
            </a:r>
          </a:p>
          <a:p>
            <a:r>
              <a:rPr lang="en-US" dirty="0"/>
              <a:t>Posting Date: 05/05/2025</a:t>
            </a:r>
          </a:p>
          <a:p>
            <a:r>
              <a:rPr lang="en-US" dirty="0"/>
              <a:t>Vendor: Smith-Hussain (ID: VND-20151)</a:t>
            </a:r>
          </a:p>
          <a:p>
            <a:r>
              <a:rPr lang="en-US" dirty="0"/>
              <a:t>Invoice: INV-150918 | PO: PO-8424</a:t>
            </a:r>
          </a:p>
          <a:p>
            <a:r>
              <a:rPr lang="en-US" dirty="0"/>
              <a:t>Amount: 1,672.61 BYR</a:t>
            </a:r>
          </a:p>
          <a:p>
            <a:r>
              <a:rPr lang="en-US" dirty="0"/>
              <a:t>Payment Method: Wire Transfer</a:t>
            </a:r>
          </a:p>
          <a:p>
            <a:r>
              <a:rPr lang="en-US" dirty="0"/>
              <a:t>Bank: Commerzbank (Branch Code: 691)</a:t>
            </a:r>
          </a:p>
          <a:p>
            <a:r>
              <a:rPr lang="en-US" dirty="0"/>
              <a:t>Account Number: 5.6823E+17</a:t>
            </a:r>
          </a:p>
          <a:p>
            <a:r>
              <a:rPr lang="en-US" dirty="0"/>
              <a:t>Beneficiary: Univ. Prof. Gertrud </a:t>
            </a:r>
            <a:r>
              <a:rPr lang="en-US" dirty="0" err="1"/>
              <a:t>Bohnbach</a:t>
            </a:r>
            <a:r>
              <a:rPr lang="en-US" dirty="0"/>
              <a:t> B.Eng.</a:t>
            </a:r>
          </a:p>
          <a:p>
            <a:r>
              <a:rPr lang="en-US" dirty="0"/>
              <a:t>Risk Score: Medium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6B850-33CF-FCA7-0825-2EF720497C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4. Transaction ID: 2dce6001-08f1-4142-8af2-6cecb68ab2cb</a:t>
            </a:r>
          </a:p>
          <a:p>
            <a:endParaRPr lang="en-US" dirty="0"/>
          </a:p>
          <a:p>
            <a:r>
              <a:rPr lang="en-US" dirty="0"/>
              <a:t>Transaction Date: 01/03/2026</a:t>
            </a:r>
          </a:p>
          <a:p>
            <a:r>
              <a:rPr lang="en-US" dirty="0"/>
              <a:t>Value Date: 01/05/2026</a:t>
            </a:r>
          </a:p>
          <a:p>
            <a:r>
              <a:rPr lang="en-US" dirty="0"/>
              <a:t>Posting Date: 01/10/2026</a:t>
            </a:r>
          </a:p>
          <a:p>
            <a:r>
              <a:rPr lang="en-US" dirty="0"/>
              <a:t>Vendor: Bourdon (ID: VND-18948)</a:t>
            </a:r>
          </a:p>
          <a:p>
            <a:r>
              <a:rPr lang="en-US" dirty="0"/>
              <a:t>Invoice: INV-678040 | PO: PO-7569</a:t>
            </a:r>
          </a:p>
          <a:p>
            <a:r>
              <a:rPr lang="en-US" dirty="0"/>
              <a:t>Amount: 47,345.24 CAD</a:t>
            </a:r>
          </a:p>
          <a:p>
            <a:r>
              <a:rPr lang="en-US" dirty="0"/>
              <a:t>Payment Method: Check</a:t>
            </a:r>
          </a:p>
          <a:p>
            <a:r>
              <a:rPr lang="en-US" dirty="0"/>
              <a:t>Bank: Wells Fargo (Branch Code: 572)</a:t>
            </a:r>
          </a:p>
          <a:p>
            <a:r>
              <a:rPr lang="en-US" dirty="0"/>
              <a:t>Account Number: ZOZY27086833345141</a:t>
            </a:r>
          </a:p>
          <a:p>
            <a:r>
              <a:rPr lang="en-US" dirty="0"/>
              <a:t>Beneficiary: </a:t>
            </a:r>
            <a:r>
              <a:rPr lang="en-US" dirty="0" err="1"/>
              <a:t>Éléonore</a:t>
            </a:r>
            <a:r>
              <a:rPr lang="en-US" dirty="0"/>
              <a:t>-Margot Perrin</a:t>
            </a:r>
          </a:p>
          <a:p>
            <a:r>
              <a:rPr lang="en-US" dirty="0"/>
              <a:t>Risk Score: High</a:t>
            </a:r>
          </a:p>
        </p:txBody>
      </p:sp>
    </p:spTree>
    <p:extLst>
      <p:ext uri="{BB962C8B-B14F-4D97-AF65-F5344CB8AC3E}">
        <p14:creationId xmlns:p14="http://schemas.microsoft.com/office/powerpoint/2010/main" val="249121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268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Financial Data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Data</dc:title>
  <dc:creator>Sujita Pandey</dc:creator>
  <cp:lastModifiedBy>Sujita Pandey</cp:lastModifiedBy>
  <cp:revision>1</cp:revision>
  <dcterms:created xsi:type="dcterms:W3CDTF">2026-05-05T10:22:20Z</dcterms:created>
  <dcterms:modified xsi:type="dcterms:W3CDTF">2026-05-05T10:32:14Z</dcterms:modified>
</cp:coreProperties>
</file>